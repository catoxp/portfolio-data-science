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097280" y="0"/>
            <a:ext cx="6035040" cy="6858000"/>
          </a:xfrm>
          <a:prstGeom prst="parallelogram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4800600" y="0"/>
            <a:ext cx="411480" cy="6858000"/>
          </a:xfrm>
          <a:prstGeom prst="parallelogram">
            <a:avLst/>
          </a:prstGeom>
          <a:solidFill>
            <a:srgbClr val="F2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A0A0B"/>
                </a:solidFill>
                <a:latin typeface="Anton"/>
              </a:rPr>
              <a:t>MACHINE LEARNING · RIESGO DE CRÉDITO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645920"/>
            <a:ext cx="5943600" cy="2926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5400" b="0">
                <a:solidFill>
                  <a:srgbClr val="F2EDE3"/>
                </a:solidFill>
                <a:latin typeface="Anton"/>
              </a:rPr>
              <a:t>HOME CREDIT DEFAULT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47091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A8A8F"/>
                </a:solidFill>
                <a:latin typeface="Inter BUGS"/>
              </a:rPr>
              <a:t>Competencia de ML de GCI World 2026 · Matsuo-Iwasawa Lab, The University of Tokyo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63093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0" b="0">
                <a:solidFill>
                  <a:srgbClr val="FF2E3A"/>
                </a:solidFill>
                <a:latin typeface="Anton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886200"/>
            <a:ext cx="10515600" cy="54864"/>
          </a:xfrm>
          <a:prstGeom prst="rect">
            <a:avLst/>
          </a:prstGeom>
          <a:solidFill>
            <a:srgbClr val="17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>
                <a:solidFill>
                  <a:srgbClr val="F2EDE3"/>
                </a:solidFill>
                <a:latin typeface="Anton"/>
              </a:rPr>
              <a:t>EL RETO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A8F"/>
                </a:solidFill>
                <a:latin typeface="Inter BUGS"/>
              </a:rPr>
              <a:t>Predecir qué clientes no pagarán su crédito · 171,202 solicitudes · métrica ROC-AUC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LOS SCORES EXTERNOS SEPARAN A QUIEN NO PAGA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Quienes caen en impago (rojo) tienen scores sistemáticamente más bajos; pero a EXT_SOURCE_1 le falta casi el 70% de los datos, así que lo completé con un modelo.</a:t>
            </a:r>
          </a:p>
        </p:txBody>
      </p:sp>
      <p:pic>
        <p:nvPicPr>
          <p:cNvPr id="8" name="Picture 7" descr="eda_ext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38" y="1783080"/>
            <a:ext cx="11058419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CRÉDITO ÷ CUOTA TIENE PICOS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Cada pico es un producto de crédito con plazo y tasa fijos: la pista para recuperar la tasa de interés oculta.</a:t>
            </a:r>
          </a:p>
        </p:txBody>
      </p:sp>
      <p:pic>
        <p:nvPicPr>
          <p:cNvPr id="8" name="Picture 7" descr="eda_credit_ann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568" y="1783080"/>
            <a:ext cx="817255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CÓMO SE CONSTRUYÓ EL SCORE</a:t>
            </a:r>
          </a:p>
        </p:txBody>
      </p:sp>
      <p:pic>
        <p:nvPicPr>
          <p:cNvPr id="7" name="Picture 6" descr="cv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7222253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783080"/>
            <a:ext cx="73152" cy="20116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2E3A"/>
                </a:solidFill>
                <a:latin typeface="Anton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40280"/>
            <a:ext cx="3017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2EDE3"/>
                </a:solidFill>
                <a:latin typeface="Inter BUGS"/>
              </a:rPr>
              <a:t>Las dos mejores mejoras salieron de entender cómo se generan los datos, no de un modelo más complejo.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MATEMÁTICA DE ANUALIDADES</a:t>
            </a:r>
          </a:p>
        </p:txBody>
      </p:sp>
      <p:pic>
        <p:nvPicPr>
          <p:cNvPr id="7" name="Picture 6" descr="annuity_term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7680960" cy="36525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783080"/>
            <a:ext cx="73152" cy="20116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2E3A"/>
                </a:solidFill>
                <a:latin typeface="Anton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40280"/>
            <a:ext cx="3017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2EDE3"/>
                </a:solidFill>
                <a:latin typeface="Inter BUGS"/>
              </a:rPr>
              <a:t>Despejar la fórmula de la cuota con bisección recupera el plazo y la tasa ocultos: los plazos de 18 y 24 meses tienen ~10% de impago.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QUÉ USA EL MODELO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876717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783080"/>
            <a:ext cx="73152" cy="20116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2E3A"/>
                </a:solidFill>
                <a:latin typeface="Anton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40280"/>
            <a:ext cx="3017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2EDE3"/>
                </a:solidFill>
                <a:latin typeface="Inter BUGS"/>
              </a:rPr>
              <a:t>Los scores externos imputados y las variables de anualidad están entre las más usadas.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RESULTADOS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73152" cy="29260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230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FF2E3A"/>
                </a:solidFill>
                <a:latin typeface="Anton"/>
              </a:rPr>
              <a:t>0.7743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323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Anton"/>
              </a:rPr>
              <a:t>AUC PÚBLICO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leaderboard de la competencia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6720" y="2194560"/>
            <a:ext cx="73152" cy="2926080"/>
          </a:xfrm>
          <a:prstGeom prst="rect">
            <a:avLst/>
          </a:prstGeom>
          <a:solidFill>
            <a:srgbClr val="17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6760" y="2103120"/>
            <a:ext cx="3230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F2EDE3"/>
                </a:solidFill>
                <a:latin typeface="Anton"/>
              </a:rPr>
              <a:t>0.7700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6760" y="3840480"/>
            <a:ext cx="323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Anton"/>
              </a:rPr>
              <a:t>AUC EN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6760" y="4434840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5 folds, sin fuga de datos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0" y="2194560"/>
            <a:ext cx="73152" cy="2926080"/>
          </a:xfrm>
          <a:prstGeom prst="rect">
            <a:avLst/>
          </a:prstGeom>
          <a:solidFill>
            <a:srgbClr val="17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4840" y="2103120"/>
            <a:ext cx="3230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F2EDE3"/>
                </a:solidFill>
                <a:latin typeface="Anton"/>
              </a:rPr>
              <a:t>+0.009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40" y="3840480"/>
            <a:ext cx="323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Anton"/>
              </a:rPr>
              <a:t>VS.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4434840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8 pasos medidos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LO QUE APRENDÍ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8483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Entender cómo se generan los datos vale más que cambiar de modelo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Las matemáticas son una herramienta de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18795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Validar sin fuga es lo que permite confiar en el resultado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23951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Documentar lo que no funcionó también es parte del trabajo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7223760" y="0"/>
            <a:ext cx="6035040" cy="6858000"/>
          </a:xfrm>
          <a:prstGeom prst="parallelogram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>
                <a:solidFill>
                  <a:srgbClr val="F2EDE3"/>
                </a:solidFill>
                <a:latin typeface="Anton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A8A8F"/>
                </a:solidFill>
                <a:latin typeface="Inter BUGS"/>
              </a:rPr>
              <a:t>linkedin.com/in/brandon-uriel-garcia-sanchez-9ab77b320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A8A8F"/>
                </a:solidFill>
                <a:latin typeface="Inter BUGS"/>
              </a:rPr>
              <a:t>github.com/CatoXP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