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-1097280" y="0"/>
            <a:ext cx="6035040" cy="6858000"/>
          </a:xfrm>
          <a:prstGeom prst="parallelogram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4800600" y="0"/>
            <a:ext cx="411480" cy="6858000"/>
          </a:xfrm>
          <a:prstGeom prst="parallelogram">
            <a:avLst/>
          </a:prstGeom>
          <a:solidFill>
            <a:srgbClr val="F2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3840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A0A0B"/>
                </a:solidFill>
                <a:latin typeface="Anton"/>
              </a:rPr>
              <a:t>MACHINE LEARNING · RIESGO DE CRÉDITO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645920"/>
            <a:ext cx="5943600" cy="2926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5400" b="0">
                <a:solidFill>
                  <a:srgbClr val="F2EDE3"/>
                </a:solidFill>
                <a:latin typeface="Anton"/>
              </a:rPr>
              <a:t>HOME CREDIT DEFAULT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47091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8A8A8F"/>
                </a:solidFill>
                <a:latin typeface="Inter BUGS"/>
              </a:rPr>
              <a:t>Top 16 en la competencia de ML de GCI World 2026 · The University of Tokyo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0" y="630936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550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F2E3A"/>
                </a:solidFill>
                <a:latin typeface="Anton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0" b="0">
                <a:solidFill>
                  <a:srgbClr val="FF2E3A"/>
                </a:solidFill>
                <a:latin typeface="Anton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886200"/>
            <a:ext cx="10515600" cy="54864"/>
          </a:xfrm>
          <a:prstGeom prst="rect">
            <a:avLst/>
          </a:prstGeom>
          <a:solidFill>
            <a:srgbClr val="17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>
                <a:solidFill>
                  <a:srgbClr val="F2EDE3"/>
                </a:solidFill>
                <a:latin typeface="Anton"/>
              </a:rPr>
              <a:t>EL RETO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749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8A8A8F"/>
                </a:solidFill>
                <a:latin typeface="Inter BUGS"/>
              </a:rPr>
              <a:t>Predecir qué clientes no pagarán su crédito · 171,202 solicitudes · métrica ROC-AUC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550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F2E3A"/>
                </a:solidFill>
                <a:latin typeface="Anton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66928"/>
            <a:ext cx="109728" cy="566928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rgbClr val="F2EDE3"/>
                </a:solidFill>
                <a:latin typeface="Anton"/>
              </a:rPr>
              <a:t>CÓMO SE CONSTRUYÓ EL SCORE</a:t>
            </a:r>
          </a:p>
        </p:txBody>
      </p:sp>
      <p:pic>
        <p:nvPicPr>
          <p:cNvPr id="7" name="Picture 6" descr="cv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7222253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0" y="1783080"/>
            <a:ext cx="73152" cy="2011680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0" y="1783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2E3A"/>
                </a:solidFill>
                <a:latin typeface="Anton"/>
              </a:rPr>
              <a:t>CONCLUSIÓN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240280"/>
            <a:ext cx="30175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2EDE3"/>
                </a:solidFill>
                <a:latin typeface="Inter BUGS"/>
              </a:rPr>
              <a:t>Las dos mejores mejoras salieron de entender cómo se generan los datos, no de un modelo más complejo.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550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F2E3A"/>
                </a:solidFill>
                <a:latin typeface="Anton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66928"/>
            <a:ext cx="109728" cy="566928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rgbClr val="F2EDE3"/>
                </a:solidFill>
                <a:latin typeface="Anton"/>
              </a:rPr>
              <a:t>MATEMÁTICA DE ANUALIDADES</a:t>
            </a:r>
          </a:p>
        </p:txBody>
      </p:sp>
      <p:pic>
        <p:nvPicPr>
          <p:cNvPr id="7" name="Picture 6" descr="annuity_term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7680960" cy="365250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0" y="1783080"/>
            <a:ext cx="73152" cy="2011680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0" y="1783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2E3A"/>
                </a:solidFill>
                <a:latin typeface="Anton"/>
              </a:rPr>
              <a:t>CONCLUSIÓN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240280"/>
            <a:ext cx="30175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2EDE3"/>
                </a:solidFill>
                <a:latin typeface="Inter BUGS"/>
              </a:rPr>
              <a:t>Despejar la fórmula de la cuota con bisección recupera el plazo y la tasa ocultos: los plazos de 18 y 24 meses tienen ~10% de impago.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550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F2E3A"/>
                </a:solidFill>
                <a:latin typeface="Anton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66928"/>
            <a:ext cx="109728" cy="566928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rgbClr val="F2EDE3"/>
                </a:solidFill>
                <a:latin typeface="Anton"/>
              </a:rPr>
              <a:t>EL CÓDIGO DETRÁS</a:t>
            </a:r>
          </a:p>
        </p:txBody>
      </p:sp>
      <p:pic>
        <p:nvPicPr>
          <p:cNvPr id="7" name="Picture 6" descr="code_annuity_m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870" y="1783080"/>
            <a:ext cx="883795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550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F2E3A"/>
                </a:solidFill>
                <a:latin typeface="Anton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66928"/>
            <a:ext cx="109728" cy="566928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rgbClr val="F2EDE3"/>
                </a:solidFill>
                <a:latin typeface="Anton"/>
              </a:rPr>
              <a:t>QUÉ USA EL MODELO</a:t>
            </a:r>
          </a:p>
        </p:txBody>
      </p:sp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5876717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0" y="1783080"/>
            <a:ext cx="73152" cy="2011680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0" y="1783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2E3A"/>
                </a:solidFill>
                <a:latin typeface="Anton"/>
              </a:rPr>
              <a:t>CONCLUSIÓN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240280"/>
            <a:ext cx="30175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2EDE3"/>
                </a:solidFill>
                <a:latin typeface="Inter BUGS"/>
              </a:rPr>
              <a:t>Los scores externos imputados y las variables de anualidad están entre las más usadas.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550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F2E3A"/>
                </a:solidFill>
                <a:latin typeface="Anton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66928"/>
            <a:ext cx="109728" cy="566928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rgbClr val="F2EDE3"/>
                </a:solidFill>
                <a:latin typeface="Anton"/>
              </a:rPr>
              <a:t>RESULTADOS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73152" cy="2926080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32308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>
                <a:solidFill>
                  <a:srgbClr val="FF2E3A"/>
                </a:solidFill>
                <a:latin typeface="Anton"/>
              </a:rPr>
              <a:t>0.7743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3230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2EDE3"/>
                </a:solidFill>
                <a:latin typeface="Anton"/>
              </a:rPr>
              <a:t>AUC PÚBLICO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34840"/>
            <a:ext cx="3230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8A8F"/>
                </a:solidFill>
                <a:latin typeface="Inter BUGS"/>
              </a:rPr>
              <a:t>Top 16 del leaderboard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6720" y="2194560"/>
            <a:ext cx="73152" cy="2926080"/>
          </a:xfrm>
          <a:prstGeom prst="rect">
            <a:avLst/>
          </a:prstGeom>
          <a:solidFill>
            <a:srgbClr val="17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6760" y="2103120"/>
            <a:ext cx="32308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>
                <a:solidFill>
                  <a:srgbClr val="F2EDE3"/>
                </a:solidFill>
                <a:latin typeface="Anton"/>
              </a:rPr>
              <a:t>0.7700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6760" y="3840480"/>
            <a:ext cx="3230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2EDE3"/>
                </a:solidFill>
                <a:latin typeface="Anton"/>
              </a:rPr>
              <a:t>AUC EN 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6760" y="4434840"/>
            <a:ext cx="3230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8A8F"/>
                </a:solidFill>
                <a:latin typeface="Inter BUGS"/>
              </a:rPr>
              <a:t>5 folds, sin fuga de datos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4800" y="2194560"/>
            <a:ext cx="73152" cy="2926080"/>
          </a:xfrm>
          <a:prstGeom prst="rect">
            <a:avLst/>
          </a:prstGeom>
          <a:solidFill>
            <a:srgbClr val="17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4840" y="2103120"/>
            <a:ext cx="32308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>
                <a:solidFill>
                  <a:srgbClr val="F2EDE3"/>
                </a:solidFill>
                <a:latin typeface="Anton"/>
              </a:rPr>
              <a:t>+0.009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40" y="3840480"/>
            <a:ext cx="3230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2EDE3"/>
                </a:solidFill>
                <a:latin typeface="Anton"/>
              </a:rPr>
              <a:t>VS.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4434840"/>
            <a:ext cx="3230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8A8F"/>
                </a:solidFill>
                <a:latin typeface="Inter BUGS"/>
              </a:rPr>
              <a:t>8 pasos medidos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8A8F"/>
                </a:solidFill>
                <a:latin typeface="Inter BUGS"/>
              </a:rPr>
              <a:t>Home Credit Default Risk · GCI World 2026 · Brandon Uriel García Sánchez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3550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F2E3A"/>
                </a:solidFill>
                <a:latin typeface="Anton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66928"/>
            <a:ext cx="109728" cy="566928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rgbClr val="F2EDE3"/>
                </a:solidFill>
                <a:latin typeface="Anton"/>
              </a:rPr>
              <a:t>LO QUE APRENDÍ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F2E3A"/>
                </a:solidFill>
                <a:latin typeface="Anto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084832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2EDE3"/>
                </a:solidFill>
                <a:latin typeface="Inter BUGS"/>
              </a:rPr>
              <a:t>Entender cómo se generan los datos vale más que cambiar de modelo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F2E3A"/>
                </a:solidFill>
                <a:latin typeface="Anto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36392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2EDE3"/>
                </a:solidFill>
                <a:latin typeface="Inter BUGS"/>
              </a:rPr>
              <a:t>Las matemáticas son una herramienta de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F2E3A"/>
                </a:solidFill>
                <a:latin typeface="Ant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187952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2EDE3"/>
                </a:solidFill>
                <a:latin typeface="Inter BUGS"/>
              </a:rPr>
              <a:t>Validar sin fuga es lo que permite confiar en el resultado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F2E3A"/>
                </a:solidFill>
                <a:latin typeface="Anton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239512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2EDE3"/>
                </a:solidFill>
                <a:latin typeface="Inter BUGS"/>
              </a:rPr>
              <a:t>Documentar lo que no funcionó también es parte del trabajo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7223760" y="0"/>
            <a:ext cx="6035040" cy="6858000"/>
          </a:xfrm>
          <a:prstGeom prst="parallelogram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>
                <a:solidFill>
                  <a:srgbClr val="F2EDE3"/>
                </a:solidFill>
                <a:latin typeface="Anton"/>
              </a:rP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8A8A8F"/>
                </a:solidFill>
                <a:latin typeface="Inter BUGS"/>
              </a:rPr>
              <a:t>linkedin.com/in/brandon-uriel-garcia-sanchez-9ab77b320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8A8A8F"/>
                </a:solidFill>
                <a:latin typeface="Inter BUGS"/>
              </a:rPr>
              <a:t>github.com/CatoXP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