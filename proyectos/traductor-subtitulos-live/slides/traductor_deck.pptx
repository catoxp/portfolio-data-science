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0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Parallelogram 1"/>
          <p:cNvSpPr/>
          <p:nvPr/>
        </p:nvSpPr>
        <p:spPr>
          <a:xfrm>
            <a:off x="-1097280" y="0"/>
            <a:ext cx="6035040" cy="6858000"/>
          </a:xfrm>
          <a:prstGeom prst="parallelogram">
            <a:avLst/>
          </a:prstGeom>
          <a:solidFill>
            <a:srgbClr val="FF2E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Parallelogram 2"/>
          <p:cNvSpPr/>
          <p:nvPr/>
        </p:nvSpPr>
        <p:spPr>
          <a:xfrm>
            <a:off x="4800600" y="0"/>
            <a:ext cx="411480" cy="6858000"/>
          </a:xfrm>
          <a:prstGeom prst="parallelogram">
            <a:avLst/>
          </a:prstGeom>
          <a:solidFill>
            <a:srgbClr val="F2ED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640080"/>
            <a:ext cx="3840480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200" b="0">
                <a:solidFill>
                  <a:srgbClr val="0A0A0B"/>
                </a:solidFill>
                <a:latin typeface="Anton"/>
              </a:rPr>
              <a:t>VISIÓN · NLP · PYTHON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760720" y="1645920"/>
            <a:ext cx="5943600" cy="2926080"/>
          </a:xfrm>
          <a:prstGeom prst="rect">
            <a:avLst/>
          </a:prstGeom>
          <a:noFill/>
        </p:spPr>
        <p:txBody>
          <a:bodyPr wrap="square" lIns="0" rIns="0" tIns="0" bIns="0" anchor="b">
            <a:spAutoFit/>
          </a:bodyPr>
          <a:lstStyle/>
          <a:p>
            <a:pPr algn="l"/>
            <a:r>
              <a:rPr sz="5400" b="0">
                <a:solidFill>
                  <a:srgbClr val="F2EDE3"/>
                </a:solidFill>
                <a:latin typeface="Anton"/>
              </a:rPr>
              <a:t>TRADUCTOR DE SUBTÍTULOS EN VIVO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760720" y="4709160"/>
            <a:ext cx="594360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00" b="0">
                <a:solidFill>
                  <a:srgbClr val="8A8A8F"/>
                </a:solidFill>
                <a:latin typeface="Inter BUGS"/>
              </a:rPr>
              <a:t>OCR + traducción offline inglés → español sobre cualquier video en pantalla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784848"/>
            <a:ext cx="12191695" cy="73152"/>
          </a:xfrm>
          <a:prstGeom prst="rect">
            <a:avLst/>
          </a:prstGeom>
          <a:solidFill>
            <a:srgbClr val="FF2E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760720" y="6309360"/>
            <a:ext cx="5943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8A8A8F"/>
                </a:solidFill>
                <a:latin typeface="Inter BUGS"/>
              </a:rPr>
              <a:t>Traductor de subtítulos en vivo · Brandon Uriel García Sánchez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0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6784848"/>
            <a:ext cx="12191695" cy="73152"/>
          </a:xfrm>
          <a:prstGeom prst="rect">
            <a:avLst/>
          </a:prstGeom>
          <a:solidFill>
            <a:srgbClr val="FF2E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6400800"/>
            <a:ext cx="8229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8A8A8F"/>
                </a:solidFill>
                <a:latin typeface="Inter BUGS"/>
              </a:rPr>
              <a:t>Traductor de subtítulos en vivo · Brandon Uriel García Sánchez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094415" y="6355080"/>
            <a:ext cx="54864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400" b="0">
                <a:solidFill>
                  <a:srgbClr val="FF2E3A"/>
                </a:solidFill>
                <a:latin typeface="Anton"/>
              </a:rPr>
              <a:t>02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097280"/>
            <a:ext cx="3657600" cy="23774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0" b="0">
                <a:solidFill>
                  <a:srgbClr val="FF2E3A"/>
                </a:solidFill>
                <a:latin typeface="Anton"/>
              </a:rPr>
              <a:t>01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3886200"/>
            <a:ext cx="10515600" cy="54864"/>
          </a:xfrm>
          <a:prstGeom prst="rect">
            <a:avLst/>
          </a:prstGeom>
          <a:solidFill>
            <a:srgbClr val="1717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4069080"/>
            <a:ext cx="10972800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4800" b="0">
                <a:solidFill>
                  <a:srgbClr val="F2EDE3"/>
                </a:solidFill>
                <a:latin typeface="Anton"/>
              </a:rPr>
              <a:t>EL PROBLEMA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5074920"/>
            <a:ext cx="100584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00" b="0">
                <a:solidFill>
                  <a:srgbClr val="8A8A8F"/>
                </a:solidFill>
                <a:latin typeface="Inter BUGS"/>
              </a:rPr>
              <a:t>Ver una transmisión en inglés con subtítulos que no entiendes, sin mandar nada a internet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0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6784848"/>
            <a:ext cx="12191695" cy="73152"/>
          </a:xfrm>
          <a:prstGeom prst="rect">
            <a:avLst/>
          </a:prstGeom>
          <a:solidFill>
            <a:srgbClr val="FF2E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6400800"/>
            <a:ext cx="8229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8A8A8F"/>
                </a:solidFill>
                <a:latin typeface="Inter BUGS"/>
              </a:rPr>
              <a:t>Traductor de subtítulos en vivo · Brandon Uriel García Sánchez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094415" y="6355080"/>
            <a:ext cx="54864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400" b="0">
                <a:solidFill>
                  <a:srgbClr val="FF2E3A"/>
                </a:solidFill>
                <a:latin typeface="Anton"/>
              </a:rPr>
              <a:t>03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566928"/>
            <a:ext cx="109728" cy="566928"/>
          </a:xfrm>
          <a:prstGeom prst="rect">
            <a:avLst/>
          </a:prstGeom>
          <a:solidFill>
            <a:srgbClr val="FF2E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60" y="457200"/>
            <a:ext cx="1051560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600" b="0">
                <a:solidFill>
                  <a:srgbClr val="F2EDE3"/>
                </a:solidFill>
                <a:latin typeface="Anton"/>
              </a:rPr>
              <a:t>CÓMO FUNCIONA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1234440"/>
            <a:ext cx="105156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>
                <a:solidFill>
                  <a:srgbClr val="8A8A8F"/>
                </a:solidFill>
                <a:latin typeface="Inter BUGS"/>
              </a:rPr>
              <a:t>Todo corre local, en dos hilos: uno lee y traduce, otro solo dibuja. Sin API keys ni costo.</a:t>
            </a:r>
          </a:p>
        </p:txBody>
      </p:sp>
      <p:pic>
        <p:nvPicPr>
          <p:cNvPr id="8" name="Picture 7" descr="tr_pipelin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72639" y="1783080"/>
            <a:ext cx="9646417" cy="438912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0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6784848"/>
            <a:ext cx="12191695" cy="73152"/>
          </a:xfrm>
          <a:prstGeom prst="rect">
            <a:avLst/>
          </a:prstGeom>
          <a:solidFill>
            <a:srgbClr val="FF2E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6400800"/>
            <a:ext cx="8229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8A8A8F"/>
                </a:solidFill>
                <a:latin typeface="Inter BUGS"/>
              </a:rPr>
              <a:t>Traductor de subtítulos en vivo · Brandon Uriel García Sánchez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094415" y="6355080"/>
            <a:ext cx="54864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400" b="0">
                <a:solidFill>
                  <a:srgbClr val="FF2E3A"/>
                </a:solidFill>
                <a:latin typeface="Anton"/>
              </a:rPr>
              <a:t>04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566928"/>
            <a:ext cx="109728" cy="566928"/>
          </a:xfrm>
          <a:prstGeom prst="rect">
            <a:avLst/>
          </a:prstGeom>
          <a:solidFill>
            <a:srgbClr val="FF2E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60" y="457200"/>
            <a:ext cx="1051560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600" b="0">
                <a:solidFill>
                  <a:srgbClr val="F2EDE3"/>
                </a:solidFill>
                <a:latin typeface="Anton"/>
              </a:rPr>
              <a:t>EL OCR ERA 11 VECES MÁS LENTO DE LO NECESARIO</a:t>
            </a:r>
          </a:p>
        </p:txBody>
      </p:sp>
      <p:pic>
        <p:nvPicPr>
          <p:cNvPr id="7" name="Picture 6" descr="tr_oc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783080"/>
            <a:ext cx="6867187" cy="4389120"/>
          </a:xfrm>
          <a:prstGeom prst="rect">
            <a:avLst/>
          </a:prstGeom>
        </p:spPr>
      </p:pic>
      <p:sp>
        <p:nvSpPr>
          <p:cNvPr id="8" name="Rectangle 7"/>
          <p:cNvSpPr/>
          <p:nvPr/>
        </p:nvSpPr>
        <p:spPr>
          <a:xfrm>
            <a:off x="8595360" y="1783080"/>
            <a:ext cx="73152" cy="2011680"/>
          </a:xfrm>
          <a:prstGeom prst="rect">
            <a:avLst/>
          </a:prstGeom>
          <a:solidFill>
            <a:srgbClr val="FF2E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869680" y="1783080"/>
            <a:ext cx="30175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>
                <a:solidFill>
                  <a:srgbClr val="FF2E3A"/>
                </a:solidFill>
                <a:latin typeface="Anton"/>
              </a:rPr>
              <a:t>CONCLUSIÓN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869680" y="2240280"/>
            <a:ext cx="3017520" cy="3200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00" b="0">
                <a:solidFill>
                  <a:srgbClr val="F2EDE3"/>
                </a:solidFill>
                <a:latin typeface="Inter BUGS"/>
              </a:rPr>
              <a:t>RapidOCR ampliaba la franja ~4× antes de leerla. Cambiar a limit_type: max y quitar el clasificador de rotación bajó de 2,768 a 252 ms con el mismo texto.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0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6784848"/>
            <a:ext cx="12191695" cy="73152"/>
          </a:xfrm>
          <a:prstGeom prst="rect">
            <a:avLst/>
          </a:prstGeom>
          <a:solidFill>
            <a:srgbClr val="FF2E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6400800"/>
            <a:ext cx="8229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8A8A8F"/>
                </a:solidFill>
                <a:latin typeface="Inter BUGS"/>
              </a:rPr>
              <a:t>Traductor de subtítulos en vivo · Brandon Uriel García Sánchez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094415" y="6355080"/>
            <a:ext cx="54864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400" b="0">
                <a:solidFill>
                  <a:srgbClr val="FF2E3A"/>
                </a:solidFill>
                <a:latin typeface="Anton"/>
              </a:rPr>
              <a:t>05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566928"/>
            <a:ext cx="109728" cy="566928"/>
          </a:xfrm>
          <a:prstGeom prst="rect">
            <a:avLst/>
          </a:prstGeom>
          <a:solidFill>
            <a:srgbClr val="FF2E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60" y="457200"/>
            <a:ext cx="1051560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600" b="0">
                <a:solidFill>
                  <a:srgbClr val="F2EDE3"/>
                </a:solidFill>
                <a:latin typeface="Anton"/>
              </a:rPr>
              <a:t>NO TRADUCIR LO MISMO NUEVE VECES</a:t>
            </a:r>
          </a:p>
        </p:txBody>
      </p:sp>
      <p:pic>
        <p:nvPicPr>
          <p:cNvPr id="7" name="Picture 6" descr="tr_codi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96179" y="1783080"/>
            <a:ext cx="9199336" cy="438912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0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6784848"/>
            <a:ext cx="12191695" cy="73152"/>
          </a:xfrm>
          <a:prstGeom prst="rect">
            <a:avLst/>
          </a:prstGeom>
          <a:solidFill>
            <a:srgbClr val="FF2E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6400800"/>
            <a:ext cx="8229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8A8A8F"/>
                </a:solidFill>
                <a:latin typeface="Inter BUGS"/>
              </a:rPr>
              <a:t>Traductor de subtítulos en vivo · Brandon Uriel García Sánchez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094415" y="6355080"/>
            <a:ext cx="54864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400" b="0">
                <a:solidFill>
                  <a:srgbClr val="FF2E3A"/>
                </a:solidFill>
                <a:latin typeface="Anton"/>
              </a:rPr>
              <a:t>06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566928"/>
            <a:ext cx="109728" cy="566928"/>
          </a:xfrm>
          <a:prstGeom prst="rect">
            <a:avLst/>
          </a:prstGeom>
          <a:solidFill>
            <a:srgbClr val="FF2E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60" y="457200"/>
            <a:ext cx="1051560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600" b="0">
                <a:solidFill>
                  <a:srgbClr val="F2EDE3"/>
                </a:solidFill>
                <a:latin typeface="Anton"/>
              </a:rPr>
              <a:t>LATENCIA REAL</a:t>
            </a:r>
          </a:p>
        </p:txBody>
      </p:sp>
      <p:pic>
        <p:nvPicPr>
          <p:cNvPr id="7" name="Picture 6" descr="tr_latenci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783080"/>
            <a:ext cx="6873765" cy="4389120"/>
          </a:xfrm>
          <a:prstGeom prst="rect">
            <a:avLst/>
          </a:prstGeom>
        </p:spPr>
      </p:pic>
      <p:sp>
        <p:nvSpPr>
          <p:cNvPr id="8" name="Rectangle 7"/>
          <p:cNvSpPr/>
          <p:nvPr/>
        </p:nvSpPr>
        <p:spPr>
          <a:xfrm>
            <a:off x="8595360" y="1783080"/>
            <a:ext cx="73152" cy="2011680"/>
          </a:xfrm>
          <a:prstGeom prst="rect">
            <a:avLst/>
          </a:prstGeom>
          <a:solidFill>
            <a:srgbClr val="FF2E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869680" y="1783080"/>
            <a:ext cx="30175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>
                <a:solidFill>
                  <a:srgbClr val="FF2E3A"/>
                </a:solidFill>
                <a:latin typeface="Anton"/>
              </a:rPr>
              <a:t>CONCLUSIÓN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869680" y="2240280"/>
            <a:ext cx="3017520" cy="3200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00" b="0">
                <a:solidFill>
                  <a:srgbClr val="F2EDE3"/>
                </a:solidFill>
                <a:latin typeface="Inter BUGS"/>
              </a:rPr>
              <a:t>~226 ms desde que aparece el subtítulo hasta verlo en español; un frame sin subtítulo cuesta ~64 ms.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0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6784848"/>
            <a:ext cx="12191695" cy="73152"/>
          </a:xfrm>
          <a:prstGeom prst="rect">
            <a:avLst/>
          </a:prstGeom>
          <a:solidFill>
            <a:srgbClr val="FF2E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6400800"/>
            <a:ext cx="8229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8A8A8F"/>
                </a:solidFill>
                <a:latin typeface="Inter BUGS"/>
              </a:rPr>
              <a:t>Traductor de subtítulos en vivo · Brandon Uriel García Sánchez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094415" y="6355080"/>
            <a:ext cx="54864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400" b="0">
                <a:solidFill>
                  <a:srgbClr val="FF2E3A"/>
                </a:solidFill>
                <a:latin typeface="Anton"/>
              </a:rPr>
              <a:t>07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566928"/>
            <a:ext cx="109728" cy="566928"/>
          </a:xfrm>
          <a:prstGeom prst="rect">
            <a:avLst/>
          </a:prstGeom>
          <a:solidFill>
            <a:srgbClr val="FF2E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60" y="457200"/>
            <a:ext cx="1051560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600" b="0">
                <a:solidFill>
                  <a:srgbClr val="F2EDE3"/>
                </a:solidFill>
                <a:latin typeface="Anton"/>
              </a:rPr>
              <a:t>EN NÚMEROS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2194560"/>
            <a:ext cx="73152" cy="2926080"/>
          </a:xfrm>
          <a:prstGeom prst="rect">
            <a:avLst/>
          </a:prstGeom>
          <a:solidFill>
            <a:srgbClr val="FF2E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68680" y="2103120"/>
            <a:ext cx="3230880" cy="1645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200" b="0">
                <a:solidFill>
                  <a:srgbClr val="FF2E3A"/>
                </a:solidFill>
                <a:latin typeface="Anton"/>
              </a:rPr>
              <a:t>~226 ms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3840480"/>
            <a:ext cx="323088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200" b="0">
                <a:solidFill>
                  <a:srgbClr val="F2EDE3"/>
                </a:solidFill>
                <a:latin typeface="Anton"/>
              </a:rPr>
              <a:t>POR LÍNEA NUEVA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68680" y="4434840"/>
            <a:ext cx="323088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>
                <a:solidFill>
                  <a:srgbClr val="8A8A8F"/>
                </a:solidFill>
                <a:latin typeface="Inter BUGS"/>
              </a:rPr>
              <a:t>OCR + traducción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236720" y="2194560"/>
            <a:ext cx="73152" cy="2926080"/>
          </a:xfrm>
          <a:prstGeom prst="rect">
            <a:avLst/>
          </a:prstGeom>
          <a:solidFill>
            <a:srgbClr val="1717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556760" y="2103120"/>
            <a:ext cx="3230880" cy="1645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200" b="0">
                <a:solidFill>
                  <a:srgbClr val="F2EDE3"/>
                </a:solidFill>
                <a:latin typeface="Anton"/>
              </a:rPr>
              <a:t>11x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56760" y="3840480"/>
            <a:ext cx="323088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200" b="0">
                <a:solidFill>
                  <a:srgbClr val="F2EDE3"/>
                </a:solidFill>
                <a:latin typeface="Anton"/>
              </a:rPr>
              <a:t>MÁS RÁPIDO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56760" y="4434840"/>
            <a:ext cx="323088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>
                <a:solidFill>
                  <a:srgbClr val="8A8A8F"/>
                </a:solidFill>
                <a:latin typeface="Inter BUGS"/>
              </a:rPr>
              <a:t>2,768 → 252 ms de OCR</a:t>
            </a:r>
          </a:p>
        </p:txBody>
      </p:sp>
      <p:sp>
        <p:nvSpPr>
          <p:cNvPr id="15" name="Rectangle 14"/>
          <p:cNvSpPr/>
          <p:nvPr/>
        </p:nvSpPr>
        <p:spPr>
          <a:xfrm>
            <a:off x="7924800" y="2194560"/>
            <a:ext cx="73152" cy="2926080"/>
          </a:xfrm>
          <a:prstGeom prst="rect">
            <a:avLst/>
          </a:prstGeom>
          <a:solidFill>
            <a:srgbClr val="1717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244840" y="2103120"/>
            <a:ext cx="3230880" cy="1645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200" b="0">
                <a:solidFill>
                  <a:srgbClr val="F2EDE3"/>
                </a:solidFill>
                <a:latin typeface="Anton"/>
              </a:rPr>
              <a:t>100%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44840" y="3840480"/>
            <a:ext cx="323088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200" b="0">
                <a:solidFill>
                  <a:srgbClr val="F2EDE3"/>
                </a:solidFill>
                <a:latin typeface="Anton"/>
              </a:rPr>
              <a:t>LOCAL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244840" y="4434840"/>
            <a:ext cx="323088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>
                <a:solidFill>
                  <a:srgbClr val="8A8A8F"/>
                </a:solidFill>
                <a:latin typeface="Inter BUGS"/>
              </a:rPr>
              <a:t>sin internet, sin API keys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0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6784848"/>
            <a:ext cx="12191695" cy="73152"/>
          </a:xfrm>
          <a:prstGeom prst="rect">
            <a:avLst/>
          </a:prstGeom>
          <a:solidFill>
            <a:srgbClr val="FF2E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6400800"/>
            <a:ext cx="8229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8A8A8F"/>
                </a:solidFill>
                <a:latin typeface="Inter BUGS"/>
              </a:rPr>
              <a:t>Traductor de subtítulos en vivo · Brandon Uriel García Sánchez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094415" y="6355080"/>
            <a:ext cx="54864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400" b="0">
                <a:solidFill>
                  <a:srgbClr val="FF2E3A"/>
                </a:solidFill>
                <a:latin typeface="Anton"/>
              </a:rPr>
              <a:t>08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566928"/>
            <a:ext cx="109728" cy="566928"/>
          </a:xfrm>
          <a:prstGeom prst="rect">
            <a:avLst/>
          </a:prstGeom>
          <a:solidFill>
            <a:srgbClr val="FF2E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60" y="457200"/>
            <a:ext cx="1051560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600" b="0">
                <a:solidFill>
                  <a:srgbClr val="F2EDE3"/>
                </a:solidFill>
                <a:latin typeface="Anton"/>
              </a:rPr>
              <a:t>LO QUE APRENDÍ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2011680"/>
            <a:ext cx="91440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000" b="0">
                <a:solidFill>
                  <a:srgbClr val="FF2E3A"/>
                </a:solidFill>
                <a:latin typeface="Anton"/>
              </a:rPr>
              <a:t>01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828800" y="2084832"/>
            <a:ext cx="950976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200" b="0">
                <a:solidFill>
                  <a:srgbClr val="F2EDE3"/>
                </a:solidFill>
                <a:latin typeface="Inter BUGS"/>
              </a:rPr>
              <a:t>Medir antes de optimizar: el cuello de botella era una configuración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3063240"/>
            <a:ext cx="91440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000" b="0">
                <a:solidFill>
                  <a:srgbClr val="FF2E3A"/>
                </a:solidFill>
                <a:latin typeface="Anton"/>
              </a:rPr>
              <a:t>02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828800" y="3136392"/>
            <a:ext cx="950976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200" b="0">
                <a:solidFill>
                  <a:srgbClr val="F2EDE3"/>
                </a:solidFill>
                <a:latin typeface="Inter BUGS"/>
              </a:rPr>
              <a:t>Un filtro de similitud ahorra casi todo el trabajo repetido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2960" y="4114800"/>
            <a:ext cx="91440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000" b="0">
                <a:solidFill>
                  <a:srgbClr val="FF2E3A"/>
                </a:solidFill>
                <a:latin typeface="Anton"/>
              </a:rPr>
              <a:t>03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828800" y="4187952"/>
            <a:ext cx="950976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200" b="0">
                <a:solidFill>
                  <a:srgbClr val="F2EDE3"/>
                </a:solidFill>
                <a:latin typeface="Inter BUGS"/>
              </a:rPr>
              <a:t>Separar el hilo de cómputo del hilo de la interfaz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2960" y="5166360"/>
            <a:ext cx="91440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000" b="0">
                <a:solidFill>
                  <a:srgbClr val="FF2E3A"/>
                </a:solidFill>
                <a:latin typeface="Anton"/>
              </a:rPr>
              <a:t>04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828800" y="5239512"/>
            <a:ext cx="950976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200" b="0">
                <a:solidFill>
                  <a:srgbClr val="F2EDE3"/>
                </a:solidFill>
                <a:latin typeface="Inter BUGS"/>
              </a:rPr>
              <a:t>La privacidad también es una decisión de diseño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0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Parallelogram 1"/>
          <p:cNvSpPr/>
          <p:nvPr/>
        </p:nvSpPr>
        <p:spPr>
          <a:xfrm>
            <a:off x="7223760" y="0"/>
            <a:ext cx="6035040" cy="6858000"/>
          </a:xfrm>
          <a:prstGeom prst="parallelogram">
            <a:avLst/>
          </a:prstGeom>
          <a:solidFill>
            <a:srgbClr val="FF2E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828800"/>
            <a:ext cx="6400800" cy="1828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800" b="0">
                <a:solidFill>
                  <a:srgbClr val="F2EDE3"/>
                </a:solidFill>
                <a:latin typeface="Anton"/>
              </a:rPr>
              <a:t>GRACIAS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3931920"/>
            <a:ext cx="640080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00" b="0">
                <a:solidFill>
                  <a:srgbClr val="8A8A8F"/>
                </a:solidFill>
                <a:latin typeface="Inter BUGS"/>
              </a:rPr>
              <a:t>linkedin.com/in/brandon-uriel-garcia-sanchez-9ab77b320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4389120"/>
            <a:ext cx="640080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00" b="0">
                <a:solidFill>
                  <a:srgbClr val="8A8A8F"/>
                </a:solidFill>
                <a:latin typeface="Inter BUGS"/>
              </a:rPr>
              <a:t>github.com/CatoXP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784848"/>
            <a:ext cx="12191695" cy="73152"/>
          </a:xfrm>
          <a:prstGeom prst="rect">
            <a:avLst/>
          </a:prstGeom>
          <a:solidFill>
            <a:srgbClr val="FF2E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